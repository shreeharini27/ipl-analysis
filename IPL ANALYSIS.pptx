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8804-A2AB-C936-8A80-59E2AE431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18837-4EFD-1ABD-61BD-FBAD5D232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74EAE-6DB1-FE13-14C0-C6DDD4C7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6610E-CF28-313E-2AB5-AB4E1DF9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3C76-2BB0-2B6B-A92F-0B17643E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34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BC37-A84C-7F82-AD06-5505CD91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86A6-057D-0DE0-7FE7-A94E718BF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EE2F-CF4D-D220-EF79-727BC85A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1D8E-1DB9-2B5E-7C7E-A3DCB0F6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9BC06-78A2-A224-B7D8-6AE9EB96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7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AF7C-BE1C-56BF-0493-C9666531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646E5-B9AB-B028-81BF-BE3BCFB7F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5F72F-AC17-372A-2998-B43F6234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69838-7029-F80F-B953-AD029E04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E2C41-D0CB-817A-9466-3358B95B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04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6AF-F14C-01BC-6B6C-BC89A680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C19A-F22D-2D16-EA33-58C9B8D64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B347B-DBD5-A364-39BB-8537D29FD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EB144-A3CA-4A6F-7FD3-9658AF04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A2A3C-4CCD-4049-403B-606C478D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1A3A5-5A31-BFBB-4170-3D5A0012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31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0D96-8941-FD42-A708-0785F527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A051E-34E3-F16F-3036-25C2D8B89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A4D31-F4FF-61E3-3596-AC1183376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02B97-5B28-EAD1-7D97-1C77AA2FD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43B6B-C4A2-CD51-DB02-04DE4DA5A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6DD0C6-DDF9-DE47-11CE-614C1E08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A32E0C-966F-BF22-8C95-A473E726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6A92C-75FB-7256-4E56-3D331B15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009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9FF7-8D9F-3C5D-28EB-887B8376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29F5D-4527-FEDC-1C0B-EA3B63C9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5D819-CD33-A76A-0543-AB1E2B1F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CF7DB-F632-E109-132A-CE16EAD3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64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2BD5A-3F6F-A936-0779-A6328472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CE938-FD29-47A1-B0C5-EC988FD5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969A2-CC11-ACC6-2F24-7E26011C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5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9AB9-3444-ED7C-CE51-0940054A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6DAA-9176-1FAE-D6A8-E6D3A9ED6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FB42E-3D08-97D9-AEE4-475C03B0A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008AC-60C8-B5F0-0958-F16BD0C3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1B71A-5531-29AA-B10F-C8E86A0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117FA-631F-3D55-BAAF-2FD32F2C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4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C41B-3186-607D-3C47-30183B6F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0F8F6-FF1A-7530-462F-BF545202B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FD0A6-6D38-839A-A1B1-F6471712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DCCAA-6C6B-7918-BE4E-2B4834F1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1A53D-4ADA-2858-CB5B-A425D05D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69E7C-82B9-5C1B-402F-CDBA4645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4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DAB7-CEDA-CD24-F113-27BA057C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EDAF5-8269-4DBF-C6B9-7CBE0A0A4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CBEBE-6E8B-3175-9C4F-000378FC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55247-7689-E17E-7AA1-EE400D81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67A6-BA24-09FA-3005-F3D1596A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63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96977-91E7-FBDB-8BAD-C68A6EA88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4A804-FFD8-0E80-074C-DEA42AD32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9E12-AA11-6F53-452F-A0964940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4CB6-1CCC-653F-9155-1EE39749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2299-F9DC-F042-4DE0-DB165AB3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03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9516E-662B-DE08-F5A7-E86E00855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6EF8C-B7A6-DB2B-3F25-C0ACF0FE4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989AE-84B6-D6E3-707F-54C7AA288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CA84-A219-44BA-90D0-8205476245D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AA1F-A7A3-F7E6-04DA-BE5332AE4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4370-AE55-42AC-1DAB-59B4C7B1A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7BE93-58E0-4B4D-9F9B-D080E018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2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8C59-34E2-1BF3-8D52-47E92B2D7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IPL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C8BB4-605B-45B4-E5BF-E82282DD4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Data Analysis · Visualization · Predictive Analysis</a:t>
            </a:r>
          </a:p>
          <a:p>
            <a:r>
              <a:rPr lang="en-US" i="1" dirty="0"/>
              <a:t>- A Shree Harini</a:t>
            </a:r>
            <a:endParaRPr lang="en-US" dirty="0"/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A2C78-F1A7-10CF-B53B-F356E1074F1D}"/>
              </a:ext>
            </a:extLst>
          </p:cNvPr>
          <p:cNvSpPr/>
          <p:nvPr/>
        </p:nvSpPr>
        <p:spPr>
          <a:xfrm>
            <a:off x="0" y="-1"/>
            <a:ext cx="12192000" cy="20877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FED5B8-8EA7-A660-67A4-9198E99BC2B9}"/>
              </a:ext>
            </a:extLst>
          </p:cNvPr>
          <p:cNvSpPr/>
          <p:nvPr/>
        </p:nvSpPr>
        <p:spPr>
          <a:xfrm>
            <a:off x="0" y="6667836"/>
            <a:ext cx="12192001" cy="1901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1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2AF7-CBA8-DF9A-E598-0CFFC6D0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1C58-E488-BA26-7E33-7A0881B74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998425"/>
            <a:ext cx="11927660" cy="855775"/>
          </a:xfrm>
        </p:spPr>
        <p:txBody>
          <a:bodyPr>
            <a:normAutofit/>
          </a:bodyPr>
          <a:lstStyle/>
          <a:p>
            <a:r>
              <a:rPr lang="en-IN" sz="4400" b="1" dirty="0"/>
              <a:t>PROJECT SCOPE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6B905-534A-5EA0-19E6-9B780D630C9F}"/>
              </a:ext>
            </a:extLst>
          </p:cNvPr>
          <p:cNvSpPr txBox="1"/>
          <p:nvPr/>
        </p:nvSpPr>
        <p:spPr>
          <a:xfrm>
            <a:off x="833480" y="2151727"/>
            <a:ext cx="106410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arenR"/>
            </a:pPr>
            <a:r>
              <a:rPr lang="en-US" sz="2000" b="1" dirty="0">
                <a:solidFill>
                  <a:srgbClr val="0D1B2A"/>
                </a:solidFill>
              </a:rPr>
              <a:t>Data Ingestion: </a:t>
            </a:r>
            <a:r>
              <a:rPr lang="en-US" sz="2000" dirty="0">
                <a:solidFill>
                  <a:srgbClr val="475569"/>
                </a:solidFill>
              </a:rPr>
              <a:t>Load IPL matches &amp; deliveries datasets from Kaggle into MySQL database using </a:t>
            </a:r>
            <a:r>
              <a:rPr lang="en-US" sz="2000" dirty="0" err="1">
                <a:solidFill>
                  <a:srgbClr val="475569"/>
                </a:solidFill>
              </a:rPr>
              <a:t>SQLAlchemy</a:t>
            </a:r>
            <a:r>
              <a:rPr lang="en-US" sz="2000" dirty="0">
                <a:solidFill>
                  <a:srgbClr val="475569"/>
                </a:solidFill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AutoNum type="arabicParenR"/>
            </a:pPr>
            <a:r>
              <a:rPr lang="en-US" sz="2000" b="1" dirty="0"/>
              <a:t>Data Cleaning</a:t>
            </a:r>
            <a:r>
              <a:rPr lang="en-US" sz="2000" dirty="0">
                <a:solidFill>
                  <a:srgbClr val="475569"/>
                </a:solidFill>
              </a:rPr>
              <a:t>: Handle nulls (winner, city, </a:t>
            </a:r>
            <a:r>
              <a:rPr lang="en-US" sz="2000" dirty="0" err="1">
                <a:solidFill>
                  <a:srgbClr val="475569"/>
                </a:solidFill>
              </a:rPr>
              <a:t>player_of_match</a:t>
            </a:r>
            <a:r>
              <a:rPr lang="en-US" sz="2000" dirty="0">
                <a:solidFill>
                  <a:srgbClr val="475569"/>
                </a:solidFill>
              </a:rPr>
              <a:t>), remove duplicates, and parse date columns.</a:t>
            </a:r>
          </a:p>
          <a:p>
            <a:pPr marL="457200" indent="-457200" algn="just">
              <a:buFont typeface="Arial" panose="020B0604020202020204" pitchFamily="34" charset="0"/>
              <a:buAutoNum type="arabicParenR"/>
            </a:pPr>
            <a:r>
              <a:rPr lang="en-US" sz="2000" b="1" dirty="0"/>
              <a:t>Visualization</a:t>
            </a:r>
            <a:r>
              <a:rPr lang="en-US" sz="2000" dirty="0">
                <a:solidFill>
                  <a:srgbClr val="475569"/>
                </a:solidFill>
              </a:rPr>
              <a:t>: Generate insights using Matplotlib/Seaborn static charts and an interactive Plotly Dash dashboard.</a:t>
            </a:r>
          </a:p>
          <a:p>
            <a:pPr marL="457200" indent="-457200" algn="just">
              <a:buFont typeface="Arial" panose="020B0604020202020204" pitchFamily="34" charset="0"/>
              <a:buAutoNum type="arabicParenR"/>
            </a:pPr>
            <a:r>
              <a:rPr lang="en-US" sz="2000" b="1" dirty="0"/>
              <a:t>Predictive Analysis</a:t>
            </a:r>
            <a:r>
              <a:rPr lang="en-US" sz="2000" dirty="0">
                <a:solidFill>
                  <a:srgbClr val="475569"/>
                </a:solidFill>
              </a:rPr>
              <a:t>: Predict IPL match winners using Random Forest Classifier with Label Encoding on categorical features.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7D86E-B785-E612-02D0-7BAD35B5F82A}"/>
              </a:ext>
            </a:extLst>
          </p:cNvPr>
          <p:cNvSpPr/>
          <p:nvPr/>
        </p:nvSpPr>
        <p:spPr>
          <a:xfrm>
            <a:off x="0" y="0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24E2DF-E398-E874-9E35-2A27E5E829AF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8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CA3D-AA1A-C16D-7B34-4B859015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D273-23BA-67B2-969A-F319DCECF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998425"/>
            <a:ext cx="11927660" cy="855775"/>
          </a:xfrm>
        </p:spPr>
        <p:txBody>
          <a:bodyPr>
            <a:normAutofit/>
          </a:bodyPr>
          <a:lstStyle/>
          <a:p>
            <a:r>
              <a:rPr lang="en-IN" sz="4400" b="1" dirty="0"/>
              <a:t>TECHNOLOGY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A92E7-19FE-767F-1D96-26977189AB6A}"/>
              </a:ext>
            </a:extLst>
          </p:cNvPr>
          <p:cNvSpPr/>
          <p:nvPr/>
        </p:nvSpPr>
        <p:spPr>
          <a:xfrm>
            <a:off x="0" y="0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A48919-0072-1BE7-8410-3E2B1FE9BE09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51826A-D44B-3C07-FFE3-DC8C45365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60150"/>
              </p:ext>
            </p:extLst>
          </p:nvPr>
        </p:nvGraphicFramePr>
        <p:xfrm>
          <a:off x="1797331" y="2316478"/>
          <a:ext cx="8560474" cy="2603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0237">
                  <a:extLst>
                    <a:ext uri="{9D8B030D-6E8A-4147-A177-3AD203B41FA5}">
                      <a16:colId xmlns:a16="http://schemas.microsoft.com/office/drawing/2014/main" val="1512621539"/>
                    </a:ext>
                  </a:extLst>
                </a:gridCol>
                <a:gridCol w="4280237">
                  <a:extLst>
                    <a:ext uri="{9D8B030D-6E8A-4147-A177-3AD203B41FA5}">
                      <a16:colId xmlns:a16="http://schemas.microsoft.com/office/drawing/2014/main" val="1883058149"/>
                    </a:ext>
                  </a:extLst>
                </a:gridCol>
              </a:tblGrid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TOOLS/LIBRARIES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31114"/>
                  </a:ext>
                </a:extLst>
              </a:tr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MySQL 8 · </a:t>
                      </a:r>
                      <a:r>
                        <a:rPr lang="en-US" sz="1800" dirty="0" err="1"/>
                        <a:t>SQLAlchemy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286743"/>
                  </a:ext>
                </a:extLst>
              </a:tr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Data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Pandas, </a:t>
                      </a:r>
                      <a:r>
                        <a:rPr lang="en-IN" dirty="0" err="1"/>
                        <a:t>Numpy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66850"/>
                  </a:ext>
                </a:extLst>
              </a:tr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Visualize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Matplotlib, Seaborn, Plotly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04880"/>
                  </a:ext>
                </a:extLst>
              </a:tr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Plotly Dash (2x2 grid layout)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355502"/>
                  </a:ext>
                </a:extLst>
              </a:tr>
              <a:tr h="433913">
                <a:tc>
                  <a:txBody>
                    <a:bodyPr/>
                    <a:lstStyle/>
                    <a:p>
                      <a:r>
                        <a:rPr lang="en-IN" dirty="0"/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Scikit-learn, </a:t>
                      </a:r>
                      <a:r>
                        <a:rPr lang="en-US" sz="1800" dirty="0" err="1"/>
                        <a:t>RandomForest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LabelEncoder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89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96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C1D2-8E9A-8A33-F5D6-8B7BD4AD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6C80-1D66-E4E5-FE84-B06487D45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998425"/>
            <a:ext cx="11927660" cy="855775"/>
          </a:xfrm>
        </p:spPr>
        <p:txBody>
          <a:bodyPr>
            <a:normAutofit/>
          </a:bodyPr>
          <a:lstStyle/>
          <a:p>
            <a:r>
              <a:rPr lang="en-IN" sz="4400" b="1" dirty="0"/>
              <a:t>MODULES AND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CC90E-595D-90B7-6669-C96446A7585D}"/>
              </a:ext>
            </a:extLst>
          </p:cNvPr>
          <p:cNvSpPr/>
          <p:nvPr/>
        </p:nvSpPr>
        <p:spPr>
          <a:xfrm>
            <a:off x="0" y="0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62984B-57EB-EE85-64F8-13CBD8AADE83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0030530-4D4C-767A-66B1-94E6522D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205" y="2023158"/>
            <a:ext cx="9459589" cy="166681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A090720F-8024-CC3C-3B89-555BA18E96E0}"/>
              </a:ext>
            </a:extLst>
          </p:cNvPr>
          <p:cNvSpPr txBox="1"/>
          <p:nvPr/>
        </p:nvSpPr>
        <p:spPr>
          <a:xfrm>
            <a:off x="428879" y="3868075"/>
            <a:ext cx="114502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334155"/>
                </a:solidFill>
              </a:rPr>
              <a:t> </a:t>
            </a:r>
            <a:r>
              <a:rPr lang="en-US" b="1" dirty="0">
                <a:solidFill>
                  <a:srgbClr val="334155"/>
                </a:solidFill>
              </a:rPr>
              <a:t>Module 1</a:t>
            </a:r>
            <a:r>
              <a:rPr lang="en-US" dirty="0">
                <a:solidFill>
                  <a:srgbClr val="334155"/>
                </a:solidFill>
              </a:rPr>
              <a:t> – Data Ingestion: Read CSV via Pandas, push to MySQL using </a:t>
            </a:r>
            <a:r>
              <a:rPr lang="en-US" dirty="0" err="1">
                <a:solidFill>
                  <a:srgbClr val="334155"/>
                </a:solidFill>
              </a:rPr>
              <a:t>SQLAlchemy</a:t>
            </a:r>
            <a:r>
              <a:rPr lang="en-US" dirty="0">
                <a:solidFill>
                  <a:srgbClr val="334155"/>
                </a:solidFill>
              </a:rPr>
              <a:t> engine, verify with .shape.</a:t>
            </a:r>
            <a:endParaRPr lang="en-US" dirty="0"/>
          </a:p>
          <a:p>
            <a:pPr algn="just"/>
            <a:r>
              <a:rPr lang="en-US" dirty="0">
                <a:solidFill>
                  <a:srgbClr val="334155"/>
                </a:solidFill>
              </a:rPr>
              <a:t> </a:t>
            </a:r>
            <a:r>
              <a:rPr lang="en-US" b="1" dirty="0">
                <a:solidFill>
                  <a:srgbClr val="334155"/>
                </a:solidFill>
              </a:rPr>
              <a:t>Module 2</a:t>
            </a:r>
            <a:r>
              <a:rPr lang="en-US" dirty="0">
                <a:solidFill>
                  <a:srgbClr val="334155"/>
                </a:solidFill>
              </a:rPr>
              <a:t> – Cleaning: </a:t>
            </a:r>
            <a:r>
              <a:rPr lang="en-US" dirty="0" err="1">
                <a:solidFill>
                  <a:srgbClr val="334155"/>
                </a:solidFill>
              </a:rPr>
              <a:t>fillna</a:t>
            </a:r>
            <a:r>
              <a:rPr lang="en-US" dirty="0">
                <a:solidFill>
                  <a:srgbClr val="334155"/>
                </a:solidFill>
              </a:rPr>
              <a:t>() for winner/city/player columns, </a:t>
            </a:r>
            <a:r>
              <a:rPr lang="en-US" dirty="0" err="1">
                <a:solidFill>
                  <a:srgbClr val="334155"/>
                </a:solidFill>
              </a:rPr>
              <a:t>drop_duplicates</a:t>
            </a:r>
            <a:r>
              <a:rPr lang="en-US" dirty="0">
                <a:solidFill>
                  <a:srgbClr val="334155"/>
                </a:solidFill>
              </a:rPr>
              <a:t>(), parse dates with </a:t>
            </a:r>
            <a:r>
              <a:rPr lang="en-US" dirty="0" err="1">
                <a:solidFill>
                  <a:srgbClr val="334155"/>
                </a:solidFill>
              </a:rPr>
              <a:t>pd.to_datetime</a:t>
            </a:r>
            <a:r>
              <a:rPr lang="en-US" dirty="0">
                <a:solidFill>
                  <a:srgbClr val="334155"/>
                </a:solidFill>
              </a:rPr>
              <a:t>().</a:t>
            </a:r>
            <a:endParaRPr lang="en-US" dirty="0"/>
          </a:p>
          <a:p>
            <a:pPr algn="just"/>
            <a:r>
              <a:rPr lang="en-US" dirty="0">
                <a:solidFill>
                  <a:srgbClr val="334155"/>
                </a:solidFill>
              </a:rPr>
              <a:t> </a:t>
            </a:r>
            <a:r>
              <a:rPr lang="en-US" b="1" dirty="0">
                <a:solidFill>
                  <a:srgbClr val="334155"/>
                </a:solidFill>
              </a:rPr>
              <a:t>Module 3</a:t>
            </a:r>
            <a:r>
              <a:rPr lang="en-US" dirty="0">
                <a:solidFill>
                  <a:srgbClr val="334155"/>
                </a:solidFill>
              </a:rPr>
              <a:t> – EDA: 6 Seaborn/Matplotlib charts — season trends, team wins, toss analysis, top players, batsmen, bowlers</a:t>
            </a:r>
            <a:endParaRPr lang="en-US" dirty="0"/>
          </a:p>
          <a:p>
            <a:pPr algn="just"/>
            <a:r>
              <a:rPr lang="en-US" dirty="0">
                <a:solidFill>
                  <a:srgbClr val="334155"/>
                </a:solidFill>
              </a:rPr>
              <a:t> </a:t>
            </a:r>
            <a:r>
              <a:rPr lang="en-US" b="1" dirty="0">
                <a:solidFill>
                  <a:srgbClr val="334155"/>
                </a:solidFill>
              </a:rPr>
              <a:t>Module 4</a:t>
            </a:r>
            <a:r>
              <a:rPr lang="en-US" dirty="0">
                <a:solidFill>
                  <a:srgbClr val="334155"/>
                </a:solidFill>
              </a:rPr>
              <a:t> – Plotly Dashboard: 2×2 subplot grid with Bar, Area, Donut, and Column charts (interactive HTML).</a:t>
            </a:r>
            <a:endParaRPr lang="en-US" dirty="0"/>
          </a:p>
          <a:p>
            <a:pPr algn="just"/>
            <a:r>
              <a:rPr lang="en-US" dirty="0">
                <a:solidFill>
                  <a:srgbClr val="334155"/>
                </a:solidFill>
              </a:rPr>
              <a:t> </a:t>
            </a:r>
            <a:r>
              <a:rPr lang="en-US" b="1" dirty="0">
                <a:solidFill>
                  <a:srgbClr val="334155"/>
                </a:solidFill>
              </a:rPr>
              <a:t>Module 5</a:t>
            </a:r>
            <a:r>
              <a:rPr lang="en-US" dirty="0">
                <a:solidFill>
                  <a:srgbClr val="334155"/>
                </a:solidFill>
              </a:rPr>
              <a:t> – ML Model: </a:t>
            </a:r>
            <a:r>
              <a:rPr lang="en-US" dirty="0" err="1">
                <a:solidFill>
                  <a:srgbClr val="334155"/>
                </a:solidFill>
              </a:rPr>
              <a:t>LabelEncoder</a:t>
            </a:r>
            <a:r>
              <a:rPr lang="en-US" dirty="0">
                <a:solidFill>
                  <a:srgbClr val="334155"/>
                </a:solidFill>
              </a:rPr>
              <a:t> → 80/20 split → </a:t>
            </a:r>
            <a:r>
              <a:rPr lang="en-US" dirty="0" err="1">
                <a:solidFill>
                  <a:srgbClr val="334155"/>
                </a:solidFill>
              </a:rPr>
              <a:t>RandomForestClassifier</a:t>
            </a:r>
            <a:r>
              <a:rPr lang="en-US" dirty="0">
                <a:solidFill>
                  <a:srgbClr val="334155"/>
                </a:solidFill>
              </a:rPr>
              <a:t>(</a:t>
            </a:r>
            <a:r>
              <a:rPr lang="en-US" dirty="0" err="1">
                <a:solidFill>
                  <a:srgbClr val="334155"/>
                </a:solidFill>
              </a:rPr>
              <a:t>n_estimators</a:t>
            </a:r>
            <a:r>
              <a:rPr lang="en-US" dirty="0">
                <a:solidFill>
                  <a:srgbClr val="334155"/>
                </a:solidFill>
              </a:rPr>
              <a:t>=100) → predict match winner.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8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7A2C2-9148-5354-CA4F-DCB61EEC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B83D-6319-008C-890D-24D208E93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323192"/>
            <a:ext cx="11927660" cy="855775"/>
          </a:xfrm>
        </p:spPr>
        <p:txBody>
          <a:bodyPr>
            <a:normAutofit/>
          </a:bodyPr>
          <a:lstStyle/>
          <a:p>
            <a:r>
              <a:rPr lang="en-IN" sz="4400" b="1" dirty="0"/>
              <a:t>CHART INSIGHTS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D1D94F-09A8-6328-883A-C2C790E792EA}"/>
              </a:ext>
            </a:extLst>
          </p:cNvPr>
          <p:cNvSpPr/>
          <p:nvPr/>
        </p:nvSpPr>
        <p:spPr>
          <a:xfrm>
            <a:off x="0" y="0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96248-FACC-601A-07C0-BC6C923E6099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8E794-9AF4-FBEA-0424-1A41DCA1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72" y="1178967"/>
            <a:ext cx="4919698" cy="2324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D5D38-08B6-1F36-3FF4-1888567A9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532" y="1178967"/>
            <a:ext cx="3848128" cy="2452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E6310F-D5D2-DC7E-E6A2-00D3F977D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943" y="3887620"/>
            <a:ext cx="2433655" cy="21812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38018D-E4F5-F72B-4090-3C45B1D65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532" y="3887620"/>
            <a:ext cx="4248181" cy="25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0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758C-DB30-6040-ADFA-A9FA7FA5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426F-28F2-7EFE-533F-DAF2F9972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998425"/>
            <a:ext cx="11927660" cy="855775"/>
          </a:xfrm>
        </p:spPr>
        <p:txBody>
          <a:bodyPr>
            <a:normAutofit/>
          </a:bodyPr>
          <a:lstStyle/>
          <a:p>
            <a:r>
              <a:rPr lang="en-IN" sz="4400" b="1" dirty="0"/>
              <a:t>PREDICTIVE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7DFBC-FEAF-D9FD-6423-1D208961AA8B}"/>
              </a:ext>
            </a:extLst>
          </p:cNvPr>
          <p:cNvSpPr txBox="1"/>
          <p:nvPr/>
        </p:nvSpPr>
        <p:spPr>
          <a:xfrm>
            <a:off x="833480" y="2151727"/>
            <a:ext cx="106410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Match Winner Prediction</a:t>
            </a:r>
          </a:p>
          <a:p>
            <a:r>
              <a:rPr lang="en-IN" sz="2000" dirty="0"/>
              <a:t>To provide predictive insights, a </a:t>
            </a:r>
            <a:r>
              <a:rPr lang="en-IN" sz="2000" b="1" dirty="0"/>
              <a:t>Random Forest Classifier</a:t>
            </a:r>
            <a:r>
              <a:rPr lang="en-IN" sz="2000" dirty="0"/>
              <a:t> was developed using historical IPL match data.</a:t>
            </a:r>
          </a:p>
          <a:p>
            <a:endParaRPr lang="en-IN" sz="2000" dirty="0"/>
          </a:p>
          <a:p>
            <a:r>
              <a:rPr lang="en-IN" sz="2000" b="1" dirty="0"/>
              <a:t>        Features Used</a:t>
            </a:r>
            <a:endParaRPr lang="en-IN" sz="2000" dirty="0"/>
          </a:p>
          <a:p>
            <a:r>
              <a:rPr lang="en-IN" sz="2000" dirty="0"/>
              <a:t>        Team 1, Team 2, Toss Winner, 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AA086-9EB7-87F3-B778-42CFAAA6CD2C}"/>
              </a:ext>
            </a:extLst>
          </p:cNvPr>
          <p:cNvSpPr/>
          <p:nvPr/>
        </p:nvSpPr>
        <p:spPr>
          <a:xfrm>
            <a:off x="0" y="0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EED21D-4105-51A4-A38E-19C1EF5C9271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D6838-DE26-FF2E-584B-79421A5FC4AB}"/>
              </a:ext>
            </a:extLst>
          </p:cNvPr>
          <p:cNvSpPr txBox="1"/>
          <p:nvPr/>
        </p:nvSpPr>
        <p:spPr>
          <a:xfrm>
            <a:off x="7533684" y="3426977"/>
            <a:ext cx="1658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Variable</a:t>
            </a:r>
            <a:endParaRPr lang="en-IN" dirty="0"/>
          </a:p>
          <a:p>
            <a:r>
              <a:rPr lang="en-IN" dirty="0"/>
              <a:t>Match Winner</a:t>
            </a: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5F8391-B721-1FCA-6FA8-84C2E047EB6D}"/>
              </a:ext>
            </a:extLst>
          </p:cNvPr>
          <p:cNvSpPr/>
          <p:nvPr/>
        </p:nvSpPr>
        <p:spPr>
          <a:xfrm>
            <a:off x="329068" y="4677186"/>
            <a:ext cx="1542884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 </a:t>
            </a:r>
          </a:p>
          <a:p>
            <a:pPr algn="ctr"/>
            <a:r>
              <a:rPr lang="en-IN" dirty="0"/>
              <a:t>Selection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15EB50-5CBD-7F65-0715-E98A4401FD45}"/>
              </a:ext>
            </a:extLst>
          </p:cNvPr>
          <p:cNvSpPr/>
          <p:nvPr/>
        </p:nvSpPr>
        <p:spPr>
          <a:xfrm>
            <a:off x="2225307" y="4677186"/>
            <a:ext cx="1583338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 </a:t>
            </a:r>
          </a:p>
          <a:p>
            <a:pPr algn="ctr"/>
            <a:r>
              <a:rPr lang="en-IN" dirty="0"/>
              <a:t>Preprocessing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C5E6C7-513A-F477-48A7-806043C6F3B8}"/>
              </a:ext>
            </a:extLst>
          </p:cNvPr>
          <p:cNvSpPr/>
          <p:nvPr/>
        </p:nvSpPr>
        <p:spPr>
          <a:xfrm>
            <a:off x="4265851" y="4677184"/>
            <a:ext cx="1583338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Label </a:t>
            </a:r>
          </a:p>
          <a:p>
            <a:pPr algn="ctr"/>
            <a:r>
              <a:rPr lang="en-IN" dirty="0"/>
              <a:t>Encoding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FACAEF-D3D8-A802-8353-A6987AB4AE3F}"/>
              </a:ext>
            </a:extLst>
          </p:cNvPr>
          <p:cNvSpPr/>
          <p:nvPr/>
        </p:nvSpPr>
        <p:spPr>
          <a:xfrm>
            <a:off x="6202544" y="4677185"/>
            <a:ext cx="1567158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Train-Test Split (80:20)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6DBD34-64EA-A767-03AC-E7CDFAE864EE}"/>
              </a:ext>
            </a:extLst>
          </p:cNvPr>
          <p:cNvSpPr/>
          <p:nvPr/>
        </p:nvSpPr>
        <p:spPr>
          <a:xfrm>
            <a:off x="8183744" y="4677186"/>
            <a:ext cx="1429594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Random Forest Classifier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171C14-9E07-896F-235F-AE3D4906FCA1}"/>
              </a:ext>
            </a:extLst>
          </p:cNvPr>
          <p:cNvSpPr/>
          <p:nvPr/>
        </p:nvSpPr>
        <p:spPr>
          <a:xfrm>
            <a:off x="9966693" y="4677186"/>
            <a:ext cx="1429594" cy="10519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Winner Prediction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8BA5A50-6BDE-6060-89E9-4CCD04818263}"/>
              </a:ext>
            </a:extLst>
          </p:cNvPr>
          <p:cNvSpPr/>
          <p:nvPr/>
        </p:nvSpPr>
        <p:spPr>
          <a:xfrm>
            <a:off x="1943433" y="5102125"/>
            <a:ext cx="210393" cy="97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F44F227-038E-B30F-50DE-FF9A9802A211}"/>
              </a:ext>
            </a:extLst>
          </p:cNvPr>
          <p:cNvSpPr/>
          <p:nvPr/>
        </p:nvSpPr>
        <p:spPr>
          <a:xfrm>
            <a:off x="3921261" y="5102124"/>
            <a:ext cx="210393" cy="97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5C7DE3C-B88E-BB36-B613-054308519AC8}"/>
              </a:ext>
            </a:extLst>
          </p:cNvPr>
          <p:cNvSpPr/>
          <p:nvPr/>
        </p:nvSpPr>
        <p:spPr>
          <a:xfrm>
            <a:off x="5922692" y="5053571"/>
            <a:ext cx="210393" cy="97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DC12F1F0-593A-971A-F495-89E09A1B6FA7}"/>
              </a:ext>
            </a:extLst>
          </p:cNvPr>
          <p:cNvSpPr/>
          <p:nvPr/>
        </p:nvSpPr>
        <p:spPr>
          <a:xfrm>
            <a:off x="7912664" y="5053571"/>
            <a:ext cx="210393" cy="97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E5BE467-A2A3-DB17-6B11-0A89858D506B}"/>
              </a:ext>
            </a:extLst>
          </p:cNvPr>
          <p:cNvSpPr/>
          <p:nvPr/>
        </p:nvSpPr>
        <p:spPr>
          <a:xfrm>
            <a:off x="9684819" y="5053570"/>
            <a:ext cx="210393" cy="971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11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300F-97F0-BF5F-F2C1-81F940BC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F02E-F9B9-A280-A22C-F84C0ECBD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70" y="2573225"/>
            <a:ext cx="11927660" cy="855775"/>
          </a:xfrm>
        </p:spPr>
        <p:txBody>
          <a:bodyPr>
            <a:normAutofit/>
          </a:bodyPr>
          <a:lstStyle/>
          <a:p>
            <a:r>
              <a:rPr lang="en-IN" sz="5400" b="1" dirty="0"/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ECDA84-704E-B584-52F1-9F6B420B8F49}"/>
              </a:ext>
            </a:extLst>
          </p:cNvPr>
          <p:cNvSpPr/>
          <p:nvPr/>
        </p:nvSpPr>
        <p:spPr>
          <a:xfrm>
            <a:off x="0" y="0"/>
            <a:ext cx="12192000" cy="23466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FC7EE-03F6-CB14-9F67-F05AACDF98B6}"/>
              </a:ext>
            </a:extLst>
          </p:cNvPr>
          <p:cNvSpPr/>
          <p:nvPr/>
        </p:nvSpPr>
        <p:spPr>
          <a:xfrm>
            <a:off x="0" y="6453398"/>
            <a:ext cx="12192000" cy="40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9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321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IPL ANALYSIS</vt:lpstr>
      <vt:lpstr>PROJECT SCOPE AND OBJECTIVES</vt:lpstr>
      <vt:lpstr>TECHNOLOGY STACK</vt:lpstr>
      <vt:lpstr>MODULES AND WORKFLOW</vt:lpstr>
      <vt:lpstr>CHART INSIGHTS</vt:lpstr>
      <vt:lpstr>PREDICTIVE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Arivalagan</dc:creator>
  <cp:lastModifiedBy>Shree Harini A</cp:lastModifiedBy>
  <cp:revision>5</cp:revision>
  <dcterms:created xsi:type="dcterms:W3CDTF">2026-06-12T10:09:53Z</dcterms:created>
  <dcterms:modified xsi:type="dcterms:W3CDTF">2026-06-16T10:58:18Z</dcterms:modified>
</cp:coreProperties>
</file>